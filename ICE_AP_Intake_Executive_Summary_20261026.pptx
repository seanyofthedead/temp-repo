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Start week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Discovery and Design</c:v>
                </c:pt>
                <c:pt idx="1">
                  <c:v>Prototype Build</c:v>
                </c:pt>
                <c:pt idx="2">
                  <c:v>Prototype Evaluation</c:v>
                </c:pt>
                <c:pt idx="3">
                  <c:v>Pilot (optional)</c:v>
                </c:pt>
                <c:pt idx="4">
                  <c:v>Production and Rollout (optional)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</c:v>
                </c:pt>
                <c:pt idx="1">
                  <c:v>4</c:v>
                </c:pt>
                <c:pt idx="2">
                  <c:v>10</c:v>
                </c:pt>
                <c:pt idx="3">
                  <c:v>13</c:v>
                </c:pt>
                <c:pt idx="4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Weeks</c:v>
                </c:pt>
              </c:strCache>
            </c:strRef>
          </c:tx>
          <c:spPr>
            <a:solidFill>
              <a:srgbClr val="5F9E44"/>
            </a:solidFill>
            <a:ln>
              <a:solidFill>
                <a:srgbClr val="5F9E44"/>
              </a:solidFill>
            </a:ln>
          </c:spPr>
          <c:dPt>
            <c:idx val="3"/>
            <c:spPr>
              <a:solidFill>
                <a:srgbClr val="DCECC6"/>
              </a:solidFill>
              <a:ln>
                <a:solidFill>
                  <a:srgbClr val="2F5D27"/>
                </a:solidFill>
                <a:prstDash val="dash"/>
              </a:ln>
            </c:spPr>
          </c:dPt>
          <c:dPt>
            <c:idx val="4"/>
            <c:spPr>
              <a:solidFill>
                <a:srgbClr val="DCECC6"/>
              </a:solidFill>
              <a:ln>
                <a:solidFill>
                  <a:srgbClr val="2F5D27"/>
                </a:solidFill>
                <a:prstDash val="dash"/>
              </a:ln>
            </c:spPr>
          </c:dPt>
          <c:dLbls>
            <c:numFmt formatCode="0&quot; weeks&quot;" sourceLinked="0"/>
            <c:txPr>
              <a:bodyPr/>
              <a:lstStyle/>
              <a:p>
                <a:pPr>
                  <a:defRPr sz="1100">
                    <a:solidFill>
                      <a:srgbClr val="1F2937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Discovery and Design</c:v>
                </c:pt>
                <c:pt idx="1">
                  <c:v>Prototype Build</c:v>
                </c:pt>
                <c:pt idx="2">
                  <c:v>Prototype Evaluation</c:v>
                </c:pt>
                <c:pt idx="3">
                  <c:v>Pilot (optional)</c:v>
                </c:pt>
                <c:pt idx="4">
                  <c:v>Production and Rollout (optional)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4</c:v>
                </c:pt>
                <c:pt idx="1">
                  <c:v>6</c:v>
                </c:pt>
                <c:pt idx="2">
                  <c:v>3</c:v>
                </c:pt>
                <c:pt idx="3">
                  <c:v>12</c:v>
                </c:pt>
                <c:pt idx="4">
                  <c:v>16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1.0"/>
          <c:min val="0.0"/>
        </c:scaling>
        <c:delete val="0"/>
        <c:axPos val="b"/>
        <c:majorGridlines>
          <c:spPr>
            <a:ln>
              <a:solidFill>
                <a:srgbClr val="D1D5DB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B636E"/>
                </a:solidFill>
              </a:defRPr>
            </a:pPr>
          </a:p>
        </c:txPr>
        <c:crossAx val="-2068027336"/>
        <c:crosses val="autoZero"/>
        <c:majorUnit val="4.0"/>
      </c:valAx>
    </c:plotArea>
    <c:dispBlanksAs val="gap"/>
  </c:chart>
  <c:txPr>
    <a:bodyPr/>
    <a:lstStyle/>
    <a:p>
      <a:pPr>
        <a:defRPr sz="1200">
          <a:solidFill>
            <a:srgbClr val="1F293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companion to the discussion document, which carries the full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431854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914400" y="269748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F5D27"/>
                </a:solidFill>
                <a:latin typeface="Arial"/>
              </a:rPr>
              <a:t>ICE Agentic Accounts Payable</a:t>
            </a:r>
          </a:p>
          <a:p>
            <a:pPr algn="l"/>
            <a:r>
              <a:rPr sz="3600" b="1" i="0">
                <a:solidFill>
                  <a:srgbClr val="2F5D27"/>
                </a:solidFill>
                <a:latin typeface="Arial"/>
              </a:rPr>
              <a:t>Invoice Intake Automation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1440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5F9E44"/>
                </a:solidFill>
                <a:latin typeface="Arial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6E"/>
                </a:solidFill>
                <a:latin typeface="Arial"/>
              </a:rPr>
              <a:t>Immigration and Customs Enforcement (ICE), Office of the Chief Financial Officer (OCFO)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6E"/>
                </a:solidFill>
                <a:latin typeface="Arial"/>
              </a:rPr>
              <a:t>Discussion Document  |  October 2026  |  Provided by Guidehouse</a:t>
            </a:r>
          </a:p>
        </p:txBody>
      </p:sp>
      <p:sp>
        <p:nvSpPr>
          <p:cNvPr id="6" name="Legend"/>
          <p:cNvSpPr txBox="1"/>
          <p:nvPr/>
        </p:nvSpPr>
        <p:spPr>
          <a:xfrm>
            <a:off x="914400" y="598932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36E"/>
                </a:solidFill>
                <a:latin typeface="Arial"/>
              </a:rPr>
              <a:t>© 2026 This document contains information which is being submitted by Guidehouse for purposes of providing U.S. Immigration and Customs Enforcement with pre-contract survey information. This document should not be considered a proposal or statement of work and may be shared with parties outside of the Government, if ICE believes it is in the Government’s best interest to do so.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384048"/>
            <a:ext cx="1600200" cy="47739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36E"/>
                </a:solidFill>
                <a:latin typeface="Arial"/>
              </a:rPr>
              <a:t>Guidehouse  |  ICE Agentic Accounts Payable Invoice Intake Automation  |  Discussion Document, October 2026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36E"/>
                </a:solidFill>
                <a:latin typeface="Arial"/>
              </a:rPr>
              <a:t>2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411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F5D27"/>
                </a:solidFill>
                <a:latin typeface="Arial"/>
              </a:rPr>
              <a:t>Agentic intake turns re-keying into review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36E"/>
                </a:solidFill>
                <a:latin typeface="Arial"/>
              </a:rPr>
              <a:t>OCFO’s largest accounts payable bottleneck, expedited without replacing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F5D27"/>
                </a:solidFill>
                <a:latin typeface="Arial"/>
              </a:rPr>
              <a:t>Today</a:t>
            </a:r>
          </a:p>
        </p:txBody>
      </p:sp>
      <p:sp>
        <p:nvSpPr>
          <p:cNvPr id="8" name="Step Vendor emails an invoice"/>
          <p:cNvSpPr/>
          <p:nvPr/>
        </p:nvSpPr>
        <p:spPr>
          <a:xfrm>
            <a:off x="548640" y="2240280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Vendor emails an invoice</a:t>
            </a:r>
            <a:r>
              <a:rPr sz="1200" b="0">
                <a:solidFill>
                  <a:srgbClr val="5B636E"/>
                </a:solidFill>
                <a:latin typeface="Arial"/>
              </a:rPr>
              <a:t>  PDF to the shared mailbox</a:t>
            </a:r>
          </a:p>
        </p:txBody>
      </p:sp>
      <p:sp>
        <p:nvSpPr>
          <p:cNvPr id="9" name="Down Arrow 8"/>
          <p:cNvSpPr/>
          <p:nvPr/>
        </p:nvSpPr>
        <p:spPr>
          <a:xfrm>
            <a:off x="3058668" y="2926080"/>
            <a:ext cx="237744" cy="182880"/>
          </a:xfrm>
          <a:prstGeom prst="down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ep Technician reads and checks it"/>
          <p:cNvSpPr/>
          <p:nvPr/>
        </p:nvSpPr>
        <p:spPr>
          <a:xfrm>
            <a:off x="548640" y="3136392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Technician reads and checks it</a:t>
            </a:r>
            <a:r>
              <a:rPr sz="1200" b="0">
                <a:solidFill>
                  <a:srgbClr val="FFFFFF"/>
                </a:solidFill>
                <a:latin typeface="Arial"/>
              </a:rPr>
              <a:t>  every vendor’s layout differs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58668" y="3822192"/>
            <a:ext cx="237744" cy="182880"/>
          </a:xfrm>
          <a:prstGeom prst="down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ep Technician re-keys it into FileOnQ"/>
          <p:cNvSpPr/>
          <p:nvPr/>
        </p:nvSpPr>
        <p:spPr>
          <a:xfrm>
            <a:off x="548640" y="4032504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Technician re-keys it into FileOnQ</a:t>
            </a:r>
            <a:r>
              <a:rPr sz="1200" b="0">
                <a:solidFill>
                  <a:srgbClr val="FFFFFF"/>
                </a:solidFill>
                <a:latin typeface="Arial"/>
              </a:rPr>
              <a:t>  fields typed, PDF attached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58668" y="4718304"/>
            <a:ext cx="237744" cy="182880"/>
          </a:xfrm>
          <a:prstGeom prst="down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ep Quality checks, certification, payment"/>
          <p:cNvSpPr/>
          <p:nvPr/>
        </p:nvSpPr>
        <p:spPr>
          <a:xfrm>
            <a:off x="548640" y="4928616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Quality checks, certification, payment</a:t>
            </a:r>
            <a:r>
              <a:rPr sz="1200" b="0">
                <a:solidFill>
                  <a:srgbClr val="5B636E"/>
                </a:solidFill>
                <a:latin typeface="Arial"/>
              </a:rPr>
              <a:t>  unchanged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5255" y="178308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F5D27"/>
                </a:solidFill>
                <a:latin typeface="Arial"/>
              </a:rPr>
              <a:t>With agentic intake</a:t>
            </a:r>
          </a:p>
        </p:txBody>
      </p:sp>
      <p:sp>
        <p:nvSpPr>
          <p:cNvPr id="16" name="Step Reads the mailbox"/>
          <p:cNvSpPr/>
          <p:nvPr/>
        </p:nvSpPr>
        <p:spPr>
          <a:xfrm>
            <a:off x="6385255" y="2240280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Reads the mailbox</a:t>
            </a:r>
            <a:r>
              <a:rPr sz="1200" b="0">
                <a:solidFill>
                  <a:srgbClr val="5B636E"/>
                </a:solidFill>
                <a:latin typeface="Arial"/>
              </a:rPr>
              <a:t>  every email and attachment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895283" y="2926080"/>
            <a:ext cx="237744" cy="182880"/>
          </a:xfrm>
          <a:prstGeom prst="down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ep Extracts and checks the data"/>
          <p:cNvSpPr/>
          <p:nvPr/>
        </p:nvSpPr>
        <p:spPr>
          <a:xfrm>
            <a:off x="6385255" y="3136392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Extracts and checks the data</a:t>
            </a:r>
            <a:r>
              <a:rPr sz="1200" b="0">
                <a:solidFill>
                  <a:srgbClr val="5B636E"/>
                </a:solidFill>
                <a:latin typeface="Arial"/>
              </a:rPr>
              <a:t>  OFM’s proper-invoice checklist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895283" y="3822192"/>
            <a:ext cx="237744" cy="182880"/>
          </a:xfrm>
          <a:prstGeom prst="down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ep Technician reviews and approves"/>
          <p:cNvSpPr/>
          <p:nvPr/>
        </p:nvSpPr>
        <p:spPr>
          <a:xfrm>
            <a:off x="6385255" y="4032504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Technician reviews and approves</a:t>
            </a:r>
            <a:r>
              <a:rPr sz="1200" b="0">
                <a:solidFill>
                  <a:srgbClr val="FFFFFF"/>
                </a:solidFill>
                <a:latin typeface="Arial"/>
              </a:rPr>
              <a:t>  or corrects, or rejects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895283" y="4718304"/>
            <a:ext cx="237744" cy="182880"/>
          </a:xfrm>
          <a:prstGeom prst="down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ep FileOnQ record created"/>
          <p:cNvSpPr/>
          <p:nvPr/>
        </p:nvSpPr>
        <p:spPr>
          <a:xfrm>
            <a:off x="6385255" y="4928616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FileOnQ record created</a:t>
            </a:r>
            <a:r>
              <a:rPr sz="1200" b="0">
                <a:solidFill>
                  <a:srgbClr val="5B636E"/>
                </a:solidFill>
                <a:latin typeface="Arial"/>
              </a:rPr>
              <a:t>  with the PDF attached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89320" y="3429000"/>
            <a:ext cx="502920" cy="457200"/>
          </a:xfrm>
          <a:prstGeom prst="rightArrow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Arial"/>
              </a:rPr>
              <a:t>Nothing reaches FileOnQ without a technician’s approval.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New for ICE: a review screen only, on ICE’s existing Databricks or Azure environment.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384048"/>
            <a:ext cx="1600200" cy="47739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36E"/>
                </a:solidFill>
                <a:latin typeface="Arial"/>
              </a:rPr>
              <a:t>Guidehouse  |  ICE Agentic Accounts Payable Invoice Intake Automation  |  Discussion Document, October 2026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36E"/>
                </a:solidFill>
                <a:latin typeface="Arial"/>
              </a:rPr>
              <a:t>3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411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F5D27"/>
                </a:solidFill>
                <a:latin typeface="Arial"/>
              </a:rPr>
              <a:t>A pilot decision in about 13 weeks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36E"/>
                </a:solidFill>
                <a:latin typeface="Arial"/>
              </a:rPr>
              <a:t>Weeks after contract award; 10 to 16 weeks to the pilot decision on the base schedule</a:t>
            </a:r>
          </a:p>
        </p:txBody>
      </p:sp>
      <p:graphicFrame>
        <p:nvGraphicFramePr>
          <p:cNvPr id="7" name="Timeline chart"/>
          <p:cNvGraphicFramePr>
            <a:graphicFrameLocks noGrp="1"/>
          </p:cNvGraphicFramePr>
          <p:nvPr/>
        </p:nvGraphicFramePr>
        <p:xfrm>
          <a:off x="548640" y="1645920"/>
          <a:ext cx="11094415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Milestone Discovery gate"/>
          <p:cNvSpPr/>
          <p:nvPr/>
        </p:nvSpPr>
        <p:spPr>
          <a:xfrm>
            <a:off x="548640" y="4343400"/>
            <a:ext cx="2602153" cy="1417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b="0">
                <a:solidFill>
                  <a:srgbClr val="5B636E"/>
                </a:solidFill>
                <a:latin typeface="Arial"/>
              </a:rPr>
              <a:t>Weeks 3 to 4</a:t>
            </a:r>
          </a:p>
          <a:p>
            <a:pPr algn="l"/>
            <a:r>
              <a:rPr sz="1500" b="1">
                <a:solidFill>
                  <a:srgbClr val="2F5D27"/>
                </a:solidFill>
                <a:latin typeface="Arial"/>
              </a:rPr>
              <a:t>Discovery gate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D6 security summary and pilot approval drafts; D1 to D3 discovery report, plan, targets</a:t>
            </a:r>
          </a:p>
        </p:txBody>
      </p:sp>
      <p:sp>
        <p:nvSpPr>
          <p:cNvPr id="9" name="Milestone Prototype demonstrated"/>
          <p:cNvSpPr/>
          <p:nvPr/>
        </p:nvSpPr>
        <p:spPr>
          <a:xfrm>
            <a:off x="3379393" y="4343400"/>
            <a:ext cx="2602153" cy="1417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b="0">
                <a:solidFill>
                  <a:srgbClr val="5B636E"/>
                </a:solidFill>
                <a:latin typeface="Arial"/>
              </a:rPr>
              <a:t>Weeks 6 to 10</a:t>
            </a:r>
          </a:p>
          <a:p>
            <a:pPr algn="l"/>
            <a:r>
              <a:rPr sz="1500" b="1">
                <a:solidFill>
                  <a:srgbClr val="2F5D27"/>
                </a:solidFill>
                <a:latin typeface="Arial"/>
              </a:rPr>
              <a:t>Prototype demonstrated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D4 synthetic test set; D5 working prototype</a:t>
            </a:r>
          </a:p>
        </p:txBody>
      </p:sp>
      <p:sp>
        <p:nvSpPr>
          <p:cNvPr id="10" name="Milestone Pilot decision"/>
          <p:cNvSpPr/>
          <p:nvPr/>
        </p:nvSpPr>
        <p:spPr>
          <a:xfrm>
            <a:off x="6210147" y="4343400"/>
            <a:ext cx="2602153" cy="1417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Week 13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Pilot decision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D7 metrics report; D8 pilot recommendation</a:t>
            </a:r>
          </a:p>
        </p:txBody>
      </p:sp>
      <p:sp>
        <p:nvSpPr>
          <p:cNvPr id="11" name="Milestone Status to the COR"/>
          <p:cNvSpPr/>
          <p:nvPr/>
        </p:nvSpPr>
        <p:spPr>
          <a:xfrm>
            <a:off x="9040901" y="4343400"/>
            <a:ext cx="2602153" cy="1417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b="0">
                <a:solidFill>
                  <a:srgbClr val="5B636E"/>
                </a:solidFill>
                <a:latin typeface="Arial"/>
              </a:rPr>
              <a:t>Every two weeks</a:t>
            </a:r>
          </a:p>
          <a:p>
            <a:pPr algn="l"/>
            <a:r>
              <a:rPr sz="1500" b="1">
                <a:solidFill>
                  <a:srgbClr val="2F5D27"/>
                </a:solidFill>
                <a:latin typeface="Arial"/>
              </a:rPr>
              <a:t>Status to the COR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D9 status report: progress, risks, decisions needed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36E"/>
                </a:solidFill>
                <a:latin typeface="Arial"/>
              </a:rPr>
              <a:t>Each gate review lets OCFO approve the next step; with OCFO’s agreement, its access and approvals are requested in the step before.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384048"/>
            <a:ext cx="1600200" cy="47739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36E"/>
                </a:solidFill>
                <a:latin typeface="Arial"/>
              </a:rPr>
              <a:t>Guidehouse  |  ICE Agentic Accounts Payable Invoice Intake Automation  |  Discussion Document, October 2026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36E"/>
                </a:solidFill>
                <a:latin typeface="Arial"/>
              </a:rPr>
              <a:t>4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411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F5D27"/>
                </a:solidFill>
                <a:latin typeface="Arial"/>
              </a:rPr>
              <a:t>A small team, brought on in stages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36E"/>
                </a:solidFill>
                <a:latin typeface="Arial"/>
              </a:rPr>
              <a:t>Full-time equivalents by task area; each person joins when there is work for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178308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F5D27"/>
                </a:solidFill>
                <a:latin typeface="Arial"/>
              </a:rPr>
              <a:t>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6" y="178308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F5D27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2392" y="178308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F5D27"/>
                </a:solidFill>
                <a:latin typeface="Arial"/>
              </a:rPr>
              <a:t>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178308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F5D27"/>
                </a:solidFill>
                <a:latin typeface="Arial"/>
              </a:rPr>
              <a:t>Pilot*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1464" y="178308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F5D27"/>
                </a:solidFill>
                <a:latin typeface="Arial"/>
              </a:rPr>
              <a:t>Production*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Project Manager (Engagement Lead)</a:t>
            </a:r>
          </a:p>
        </p:txBody>
      </p:sp>
      <p:sp>
        <p:nvSpPr>
          <p:cNvPr id="13" name="FTE Engagement lead P0"/>
          <p:cNvSpPr/>
          <p:nvPr/>
        </p:nvSpPr>
        <p:spPr>
          <a:xfrm>
            <a:off x="3749040" y="219456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14" name="FTE Engagement lead P1"/>
          <p:cNvSpPr/>
          <p:nvPr/>
        </p:nvSpPr>
        <p:spPr>
          <a:xfrm>
            <a:off x="4608576" y="2194560"/>
            <a:ext cx="768096" cy="274320"/>
          </a:xfrm>
          <a:prstGeom prst="rect">
            <a:avLst/>
          </a:prstGeom>
          <a:solidFill>
            <a:srgbClr val="B9D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0.25</a:t>
            </a:r>
          </a:p>
        </p:txBody>
      </p:sp>
      <p:sp>
        <p:nvSpPr>
          <p:cNvPr id="15" name="FTE Engagement lead P2"/>
          <p:cNvSpPr/>
          <p:nvPr/>
        </p:nvSpPr>
        <p:spPr>
          <a:xfrm>
            <a:off x="5468112" y="2194560"/>
            <a:ext cx="768096" cy="274320"/>
          </a:xfrm>
          <a:prstGeom prst="rect">
            <a:avLst/>
          </a:prstGeom>
          <a:solidFill>
            <a:srgbClr val="B9D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0.25</a:t>
            </a:r>
          </a:p>
        </p:txBody>
      </p:sp>
      <p:sp>
        <p:nvSpPr>
          <p:cNvPr id="16" name="FTE Engagement lead P3"/>
          <p:cNvSpPr/>
          <p:nvPr/>
        </p:nvSpPr>
        <p:spPr>
          <a:xfrm>
            <a:off x="6327648" y="2194560"/>
            <a:ext cx="768096" cy="274320"/>
          </a:xfrm>
          <a:prstGeom prst="rect">
            <a:avLst/>
          </a:prstGeom>
          <a:solidFill>
            <a:srgbClr val="B9D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0.25</a:t>
            </a:r>
          </a:p>
        </p:txBody>
      </p:sp>
      <p:sp>
        <p:nvSpPr>
          <p:cNvPr id="17" name="FTE Engagement lead P4"/>
          <p:cNvSpPr/>
          <p:nvPr/>
        </p:nvSpPr>
        <p:spPr>
          <a:xfrm>
            <a:off x="7187184" y="2194560"/>
            <a:ext cx="768096" cy="274320"/>
          </a:xfrm>
          <a:prstGeom prst="rect">
            <a:avLst/>
          </a:prstGeom>
          <a:solidFill>
            <a:srgbClr val="B9D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146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Data Scientist III (Solution Architect)</a:t>
            </a:r>
          </a:p>
        </p:txBody>
      </p:sp>
      <p:sp>
        <p:nvSpPr>
          <p:cNvPr id="19" name="FTE Solution architect P0"/>
          <p:cNvSpPr/>
          <p:nvPr/>
        </p:nvSpPr>
        <p:spPr>
          <a:xfrm>
            <a:off x="3749040" y="256032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20" name="FTE Solution architect P1"/>
          <p:cNvSpPr/>
          <p:nvPr/>
        </p:nvSpPr>
        <p:spPr>
          <a:xfrm>
            <a:off x="4608576" y="256032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21" name="FTE Solution architect P2"/>
          <p:cNvSpPr/>
          <p:nvPr/>
        </p:nvSpPr>
        <p:spPr>
          <a:xfrm>
            <a:off x="5468112" y="2560320"/>
            <a:ext cx="768096" cy="274320"/>
          </a:xfrm>
          <a:prstGeom prst="rect">
            <a:avLst/>
          </a:prstGeom>
          <a:solidFill>
            <a:srgbClr val="B9D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0.25</a:t>
            </a:r>
          </a:p>
        </p:txBody>
      </p:sp>
      <p:sp>
        <p:nvSpPr>
          <p:cNvPr id="22" name="FTE Solution architect P3"/>
          <p:cNvSpPr/>
          <p:nvPr/>
        </p:nvSpPr>
        <p:spPr>
          <a:xfrm>
            <a:off x="6327648" y="2560320"/>
            <a:ext cx="768096" cy="274320"/>
          </a:xfrm>
          <a:prstGeom prst="rect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0.75</a:t>
            </a:r>
          </a:p>
        </p:txBody>
      </p:sp>
      <p:sp>
        <p:nvSpPr>
          <p:cNvPr id="23" name="FTE Solution architect P4"/>
          <p:cNvSpPr/>
          <p:nvPr/>
        </p:nvSpPr>
        <p:spPr>
          <a:xfrm>
            <a:off x="7187184" y="256032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8803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Process Improvement Specialist II (AP Business Analyst)</a:t>
            </a:r>
          </a:p>
        </p:txBody>
      </p:sp>
      <p:sp>
        <p:nvSpPr>
          <p:cNvPr id="25" name="FTE AP process subject-matter expert P0"/>
          <p:cNvSpPr/>
          <p:nvPr/>
        </p:nvSpPr>
        <p:spPr>
          <a:xfrm>
            <a:off x="3749040" y="292608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26" name="FTE AP process subject-matter expert P1"/>
          <p:cNvSpPr/>
          <p:nvPr/>
        </p:nvSpPr>
        <p:spPr>
          <a:xfrm>
            <a:off x="4608576" y="2926080"/>
            <a:ext cx="768096" cy="274320"/>
          </a:xfrm>
          <a:prstGeom prst="rect">
            <a:avLst/>
          </a:prstGeom>
          <a:solidFill>
            <a:srgbClr val="5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0.75</a:t>
            </a:r>
          </a:p>
        </p:txBody>
      </p:sp>
      <p:sp>
        <p:nvSpPr>
          <p:cNvPr id="27" name="FTE AP process subject-matter expert P2"/>
          <p:cNvSpPr/>
          <p:nvPr/>
        </p:nvSpPr>
        <p:spPr>
          <a:xfrm>
            <a:off x="5468112" y="292608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28" name="FTE AP process subject-matter expert P3"/>
          <p:cNvSpPr/>
          <p:nvPr/>
        </p:nvSpPr>
        <p:spPr>
          <a:xfrm>
            <a:off x="6327648" y="292608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29" name="FTE AP process subject-matter expert P4"/>
          <p:cNvSpPr/>
          <p:nvPr/>
        </p:nvSpPr>
        <p:spPr>
          <a:xfrm>
            <a:off x="7187184" y="292608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2461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Data Scientist II (AI/ML)</a:t>
            </a:r>
          </a:p>
        </p:txBody>
      </p:sp>
      <p:sp>
        <p:nvSpPr>
          <p:cNvPr id="31" name="FTE AI/ML engineer P0"/>
          <p:cNvSpPr/>
          <p:nvPr/>
        </p:nvSpPr>
        <p:spPr>
          <a:xfrm>
            <a:off x="3749040" y="3291840"/>
            <a:ext cx="768096" cy="274320"/>
          </a:xfrm>
          <a:prstGeom prst="rect">
            <a:avLst/>
          </a:prstGeom>
          <a:solidFill>
            <a:srgbClr val="B9D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0.25</a:t>
            </a:r>
          </a:p>
        </p:txBody>
      </p:sp>
      <p:sp>
        <p:nvSpPr>
          <p:cNvPr id="32" name="FTE AI/ML engineer P1"/>
          <p:cNvSpPr/>
          <p:nvPr/>
        </p:nvSpPr>
        <p:spPr>
          <a:xfrm>
            <a:off x="4608576" y="329184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33" name="FTE AI/ML engineer P2"/>
          <p:cNvSpPr/>
          <p:nvPr/>
        </p:nvSpPr>
        <p:spPr>
          <a:xfrm>
            <a:off x="5468112" y="329184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34" name="FTE AI/ML engineer P3"/>
          <p:cNvSpPr/>
          <p:nvPr/>
        </p:nvSpPr>
        <p:spPr>
          <a:xfrm>
            <a:off x="6327648" y="329184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35" name="FTE AI/ML engineer P4"/>
          <p:cNvSpPr/>
          <p:nvPr/>
        </p:nvSpPr>
        <p:spPr>
          <a:xfrm>
            <a:off x="7187184" y="329184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611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Data Scientist II (Full Stack)</a:t>
            </a:r>
          </a:p>
        </p:txBody>
      </p:sp>
      <p:sp>
        <p:nvSpPr>
          <p:cNvPr id="37" name="FTE Full-stack engineer P0"/>
          <p:cNvSpPr/>
          <p:nvPr/>
        </p:nvSpPr>
        <p:spPr>
          <a:xfrm>
            <a:off x="3749040" y="365760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TE Full-stack engineer P1"/>
          <p:cNvSpPr/>
          <p:nvPr/>
        </p:nvSpPr>
        <p:spPr>
          <a:xfrm>
            <a:off x="4608576" y="365760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39" name="FTE Full-stack engineer P2"/>
          <p:cNvSpPr/>
          <p:nvPr/>
        </p:nvSpPr>
        <p:spPr>
          <a:xfrm>
            <a:off x="5468112" y="365760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40" name="FTE Full-stack engineer P3"/>
          <p:cNvSpPr/>
          <p:nvPr/>
        </p:nvSpPr>
        <p:spPr>
          <a:xfrm>
            <a:off x="6327648" y="365760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41" name="FTE Full-stack engineer P4"/>
          <p:cNvSpPr/>
          <p:nvPr/>
        </p:nvSpPr>
        <p:spPr>
          <a:xfrm>
            <a:off x="7187184" y="365760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97764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Data Scientist II (Test and Quality Lead)</a:t>
            </a:r>
          </a:p>
        </p:txBody>
      </p:sp>
      <p:sp>
        <p:nvSpPr>
          <p:cNvPr id="43" name="FTE Test and quality lead P0"/>
          <p:cNvSpPr/>
          <p:nvPr/>
        </p:nvSpPr>
        <p:spPr>
          <a:xfrm>
            <a:off x="3749040" y="402336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TE Test and quality lead P1"/>
          <p:cNvSpPr/>
          <p:nvPr/>
        </p:nvSpPr>
        <p:spPr>
          <a:xfrm>
            <a:off x="4608576" y="402336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TE Test and quality lead P2"/>
          <p:cNvSpPr/>
          <p:nvPr/>
        </p:nvSpPr>
        <p:spPr>
          <a:xfrm>
            <a:off x="5468112" y="402336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TE Test and quality lead P3"/>
          <p:cNvSpPr/>
          <p:nvPr/>
        </p:nvSpPr>
        <p:spPr>
          <a:xfrm>
            <a:off x="6327648" y="402336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47" name="FTE Test and quality lead P4"/>
          <p:cNvSpPr/>
          <p:nvPr/>
        </p:nvSpPr>
        <p:spPr>
          <a:xfrm>
            <a:off x="7187184" y="4023360"/>
            <a:ext cx="768096" cy="27432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0.50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3434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Arial"/>
              </a:rPr>
              <a:t>Process Improvement Specialist II (Change and Training Lead)</a:t>
            </a:r>
          </a:p>
        </p:txBody>
      </p:sp>
      <p:sp>
        <p:nvSpPr>
          <p:cNvPr id="49" name="FTE Change management and training lead P0"/>
          <p:cNvSpPr/>
          <p:nvPr/>
        </p:nvSpPr>
        <p:spPr>
          <a:xfrm>
            <a:off x="3749040" y="438912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TE Change management and training lead P1"/>
          <p:cNvSpPr/>
          <p:nvPr/>
        </p:nvSpPr>
        <p:spPr>
          <a:xfrm>
            <a:off x="4608576" y="438912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TE Change management and training lead P2"/>
          <p:cNvSpPr/>
          <p:nvPr/>
        </p:nvSpPr>
        <p:spPr>
          <a:xfrm>
            <a:off x="5468112" y="438912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TE Change management and training lead P3"/>
          <p:cNvSpPr/>
          <p:nvPr/>
        </p:nvSpPr>
        <p:spPr>
          <a:xfrm>
            <a:off x="6327648" y="4389120"/>
            <a:ext cx="768096" cy="27432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TE Change management and training lead P4"/>
          <p:cNvSpPr/>
          <p:nvPr/>
        </p:nvSpPr>
        <p:spPr>
          <a:xfrm>
            <a:off x="7187184" y="4389120"/>
            <a:ext cx="768096" cy="27432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709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Arial"/>
              </a:rPr>
              <a:t>Hours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03320" y="470916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Arial"/>
              </a:rPr>
              <a:t>440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62856" y="470916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Arial"/>
              </a:rPr>
              <a:t>840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2392" y="470916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Arial"/>
              </a:rPr>
              <a:t>360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1928" y="470916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Arial"/>
              </a:rPr>
              <a:t>1,920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41464" y="4709160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Arial"/>
              </a:rPr>
              <a:t>2,720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1206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36E"/>
                </a:solidFill>
                <a:latin typeface="Arial"/>
              </a:rPr>
              <a:t>*Optional. The solution architect also prepares the security summary and ISSO approval requests.</a:t>
            </a:r>
          </a:p>
        </p:txBody>
      </p:sp>
      <p:sp>
        <p:nvSpPr>
          <p:cNvPr id="61" name="Key assumptions"/>
          <p:cNvSpPr/>
          <p:nvPr/>
        </p:nvSpPr>
        <p:spPr>
          <a:xfrm>
            <a:off x="8275320" y="1783080"/>
            <a:ext cx="3367735" cy="3429000"/>
          </a:xfrm>
          <a:prstGeom prst="rect">
            <a:avLst/>
          </a:prstGeom>
          <a:solidFill>
            <a:srgbClr val="EE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73152" bIns="73152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F5D27"/>
                </a:solidFill>
                <a:latin typeface="Arial"/>
              </a:rPr>
              <a:t>Key assumptions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Arial"/>
              </a:rPr>
              <a:t>Environment. </a:t>
            </a:r>
            <a:r>
              <a:rPr sz="1300" b="0">
                <a:solidFill>
                  <a:srgbClr val="1F2937"/>
                </a:solidFill>
                <a:latin typeface="Arial"/>
              </a:rPr>
              <a:t>ICE’s existing, authorized platform and not a new system of record, so no new ATO is expected; the ISSO still approves the workspace and connections.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Arial"/>
              </a:rPr>
              <a:t>Data. </a:t>
            </a:r>
            <a:r>
              <a:rPr sz="1300" b="0">
                <a:solidFill>
                  <a:srgbClr val="1F2937"/>
                </a:solidFill>
                <a:latin typeface="Arial"/>
              </a:rPr>
              <a:t>Synthetic invoices only until an approved pilot; the pilot’s access is drafted in discovery.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Arial"/>
              </a:rPr>
              <a:t>People. </a:t>
            </a:r>
            <a:r>
              <a:rPr sz="1300" b="0">
                <a:solidFill>
                  <a:srgbClr val="1F2937"/>
                </a:solidFill>
                <a:latin typeface="Arial"/>
              </a:rPr>
              <a:t>A few scheduled hours from OFM staff, OCIO and the sponsors.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Arial"/>
              </a:rPr>
              <a:t>Cost. </a:t>
            </a:r>
            <a:r>
              <a:rPr sz="1300" b="0">
                <a:solidFill>
                  <a:srgbClr val="1F2937"/>
                </a:solidFill>
                <a:latin typeface="Arial"/>
              </a:rPr>
              <a:t>Time and materials task orders; ICE holds any licenses; no other direct costs or travel.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384048"/>
            <a:ext cx="1600200" cy="47739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36E"/>
                </a:solidFill>
                <a:latin typeface="Arial"/>
              </a:rPr>
              <a:t>Guidehouse  |  ICE Agentic Accounts Payable Invoice Intake Automation  |  Discussion Document, October 2026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36E"/>
                </a:solidFill>
                <a:latin typeface="Arial"/>
              </a:rPr>
              <a:t>5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411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F5D27"/>
                </a:solidFill>
                <a:latin typeface="Arial"/>
              </a:rPr>
              <a:t>One IDIQ contract, three task orders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36E"/>
                </a:solidFill>
                <a:latin typeface="Arial"/>
              </a:rPr>
              <a:t>Proposed hourly rates by contract year; sample task orders priced time and materials at Year 1 rates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86968"/>
                <a:gridCol w="886968"/>
                <a:gridCol w="87782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91440" marR="91440" marT="36576" marB="36576" anchor="ctr">
                    <a:solidFill>
                      <a:srgbClr val="2F5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Year 1</a:t>
                      </a:r>
                    </a:p>
                  </a:txBody>
                  <a:tcPr marL="91440" marR="91440" marT="36576" marB="36576" anchor="ctr">
                    <a:solidFill>
                      <a:srgbClr val="2F5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Year 2</a:t>
                      </a:r>
                    </a:p>
                  </a:txBody>
                  <a:tcPr marL="91440" marR="91440" marT="36576" marB="36576" anchor="ctr">
                    <a:solidFill>
                      <a:srgbClr val="2F5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Year 3</a:t>
                      </a:r>
                    </a:p>
                  </a:txBody>
                  <a:tcPr marL="91440" marR="91440" marT="36576" marB="36576" anchor="ctr">
                    <a:solidFill>
                      <a:srgbClr val="2F5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Project Manager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$241.50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$248.74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$256.21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Data Scientist III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$183.08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$188.57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$194.23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Process Improvement Specialist II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$155.40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$160.06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$164.86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Data Scientist II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$166.57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$171.57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$176.72</a:t>
                      </a:r>
                    </a:p>
                  </a:txBody>
                  <a:tcPr marL="91440" marR="91440" marT="36576" marB="36576" anchor="ctr">
                    <a:solidFill>
                      <a:srgbClr val="EEF5E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1783080"/>
            <a:ext cx="51023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Task Order 1 is awarded with the IDIQ,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so the contract and the first work go through in one package.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Task Orders 2 and 3 follow only if OCFO approves them,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each re-estimated at the gate review before it.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Sustainment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after handover can be priced as a further task order.</a:t>
            </a:r>
          </a:p>
        </p:txBody>
      </p:sp>
      <p:sp>
        <p:nvSpPr>
          <p:cNvPr id="9" name="Task Order 1"/>
          <p:cNvSpPr/>
          <p:nvPr/>
        </p:nvSpPr>
        <p:spPr>
          <a:xfrm>
            <a:off x="548640" y="3840480"/>
            <a:ext cx="3515258" cy="1280160"/>
          </a:xfrm>
          <a:prstGeom prst="rect">
            <a:avLst/>
          </a:prstGeom>
          <a:solidFill>
            <a:srgbClr val="2F5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73152" b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Task Order 1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Discovery, prototype and evaluation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$285,892.80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13 weeks  |  1,640 hours</a:t>
            </a:r>
          </a:p>
        </p:txBody>
      </p:sp>
      <p:sp>
        <p:nvSpPr>
          <p:cNvPr id="10" name="Task Order 2 (optional)"/>
          <p:cNvSpPr/>
          <p:nvPr/>
        </p:nvSpPr>
        <p:spPr>
          <a:xfrm>
            <a:off x="4338218" y="3840480"/>
            <a:ext cx="3515258" cy="1280160"/>
          </a:xfrm>
          <a:prstGeom prst="rect">
            <a:avLst/>
          </a:prstGeom>
          <a:solidFill>
            <a:srgbClr val="DCE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73152" bIns="73152"/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Task Order 2 (optional)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Pilot on live invoices</a:t>
            </a:r>
          </a:p>
          <a:p>
            <a:pPr algn="l"/>
            <a:r>
              <a:rPr sz="2400" b="1">
                <a:solidFill>
                  <a:srgbClr val="2F5D27"/>
                </a:solidFill>
                <a:latin typeface="Arial"/>
              </a:rPr>
              <a:t>$332,068.80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12 weeks  |  1,920 hours</a:t>
            </a:r>
          </a:p>
        </p:txBody>
      </p:sp>
      <p:sp>
        <p:nvSpPr>
          <p:cNvPr id="11" name="Task Order 3 (optional)"/>
          <p:cNvSpPr/>
          <p:nvPr/>
        </p:nvSpPr>
        <p:spPr>
          <a:xfrm>
            <a:off x="8127796" y="3840480"/>
            <a:ext cx="3515258" cy="1280160"/>
          </a:xfrm>
          <a:prstGeom prst="rect">
            <a:avLst/>
          </a:prstGeom>
          <a:solidFill>
            <a:srgbClr val="DCE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73152" bIns="73152"/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Task Order 3 (optional)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Production, change management and rollout</a:t>
            </a:r>
          </a:p>
          <a:p>
            <a:pPr algn="l"/>
            <a:r>
              <a:rPr sz="2400" b="1">
                <a:solidFill>
                  <a:srgbClr val="2F5D27"/>
                </a:solidFill>
                <a:latin typeface="Arial"/>
              </a:rPr>
              <a:t>$459,619.20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16 weeks  |  2,720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949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F5D27"/>
                </a:solidFill>
                <a:latin typeface="Arial"/>
              </a:rPr>
              <a:t>Planning figures: </a:t>
            </a:r>
            <a:r>
              <a:rPr sz="1300" b="0" i="0">
                <a:solidFill>
                  <a:srgbClr val="2F5D27"/>
                </a:solidFill>
                <a:latin typeface="Arial"/>
              </a:rPr>
              <a:t>about $618,000 with the pilot; about $1,078,000 with production and rollout. No other direct costs.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ICE Agentic Accounts Payable Invoice Intake Automation (Executive Summary, Draft v0.3)</dc:title>
  <dc:subject>ICE Agentic Accounts Payable Invoice Intake Automation</dc:subject>
  <dc:creator>Guidehouse</dc:creator>
  <cp:keywords/>
  <dc:description/>
  <cp:lastModifiedBy>Guidehouse</cp:lastModifiedBy>
  <cp:revision>1</cp:revision>
  <dcterms:created xsi:type="dcterms:W3CDTF">2013-01-27T09:14:16Z</dcterms:created>
  <dcterms:modified xsi:type="dcterms:W3CDTF">2013-01-27T09:15:58Z</dcterms:modified>
  <cp:category/>
</cp:coreProperties>
</file>